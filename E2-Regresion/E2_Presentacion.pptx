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9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3141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E6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SAASFLOW · INTELIGENCIA ARTIFICIAL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926080" cy="45720"/>
          </a:xfrm>
          <a:prstGeom prst="rect">
            <a:avLst/>
          </a:prstGeom>
          <a:solidFill>
            <a:srgbClr val="E6B24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del MRR del próximo trimestre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502152" cy="2194560"/>
          </a:xfrm>
          <a:prstGeom prst="rect">
            <a:avLst/>
          </a:prstGeom>
          <a:solidFill>
            <a:srgbClr val="1C222B"/>
          </a:solidFill>
          <a:ln w="12700">
            <a:solidFill>
              <a:srgbClr val="2C354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896112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6B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82396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SaaSFlow necesita anticipar posibles caídas de ingresos antes de que afecten la relación con sus clientes B2B.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834640"/>
            <a:ext cx="3502152" cy="2194560"/>
          </a:xfrm>
          <a:prstGeom prst="rect">
            <a:avLst/>
          </a:prstGeom>
          <a:solidFill>
            <a:srgbClr val="1C222B"/>
          </a:solidFill>
          <a:ln w="12700">
            <a:solidFill>
              <a:srgbClr val="2C354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4553712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6B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modelo de Regresión Lineal que estime mrr_proximo_trimestre para cada cliente.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55280" y="2834640"/>
            <a:ext cx="3502152" cy="2194560"/>
          </a:xfrm>
          <a:prstGeom prst="rect">
            <a:avLst/>
          </a:prstGeom>
          <a:solidFill>
            <a:srgbClr val="1C222B"/>
          </a:solidFill>
          <a:ln w="12700">
            <a:solidFill>
              <a:srgbClr val="2C354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8211312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6B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/ ROI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197596" y="32232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los recursos de Customer Success hacia clientes con riesgo de disminuir su ingreso recurrente.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440680"/>
            <a:ext cx="10927080" cy="548640"/>
          </a:xfrm>
          <a:prstGeom prst="rect">
            <a:avLst/>
          </a:prstGeom>
          <a:solidFill>
            <a:srgbClr val="232C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914400" y="54406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30.000 </a:t>
            </a:r>
            <a:r>
              <a:rPr lang="en-US" sz="1350" dirty="0">
                <a:solidFill>
                  <a:srgbClr val="8A9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      </a:t>
            </a:r>
            <a:r>
              <a:rPr lang="en-US" sz="1350" b="1" dirty="0">
                <a:solidFill>
                  <a:srgbClr val="E6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r>
              <a:rPr lang="en-US" sz="1350" dirty="0">
                <a:solidFill>
                  <a:srgbClr val="8A9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      Target: </a:t>
            </a:r>
            <a:r>
              <a:rPr lang="en-US" sz="1350" dirty="0">
                <a:solidFill>
                  <a:srgbClr val="ECE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MRR próximo trimestre (USD)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E6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CALIDAD Y PREPARACIÓN DE LOS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preparación de los datos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257800" cy="3429000"/>
          </a:xfrm>
          <a:prstGeom prst="rect">
            <a:avLst/>
          </a:prstGeom>
          <a:solidFill>
            <a:srgbClr val="1C222B"/>
          </a:solidFill>
          <a:ln w="12700">
            <a:solidFill>
              <a:srgbClr val="2C354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914400" y="1737173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6B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 INICIAL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1540" y="1984435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30.000 clientes · 0 duplicados</a:t>
            </a:r>
            <a:endParaRPr lang="en-US" sz="1350" dirty="0"/>
          </a:p>
        </p:txBody>
      </p:sp>
      <p:pic>
        <p:nvPicPr>
          <p:cNvPr id="8" name="Image 0" descr="/tmp/e2img/nu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72751"/>
            <a:ext cx="4800600" cy="23275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45537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promedio_sesiones_mes presenta asimetría positiva → se usa la mediana por ser más robusta frente a la asimetría y los valores extremos.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1600200"/>
            <a:ext cx="5532120" cy="3429000"/>
          </a:xfrm>
          <a:prstGeom prst="rect">
            <a:avLst/>
          </a:prstGeom>
          <a:solidFill>
            <a:srgbClr val="1C222B"/>
          </a:solidFill>
          <a:ln w="12700">
            <a:solidFill>
              <a:srgbClr val="2C354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 txBox="1"/>
          <p:nvPr/>
        </p:nvSpPr>
        <p:spPr>
          <a:xfrm>
            <a:off x="63093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TRATAMIENTO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6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2148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Imputación.  </a:t>
            </a:r>
            <a:r>
              <a:rPr lang="en-US" sz="13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→ mediana · Tickets y NPS → moda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809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6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284378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variable.  </a:t>
            </a:r>
            <a:r>
              <a:rPr lang="en-US" sz="13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fecha_registro → antiguedad_dias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358694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6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35387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Codificación.  </a:t>
            </a:r>
            <a:r>
              <a:rPr lang="en-US" sz="13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→ Ordinal · Sector → One-Hot · Pago/contrato → mapeo numérico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43849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6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629400" y="42336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Escalado.  </a:t>
            </a:r>
            <a:r>
              <a:rPr lang="en-US" sz="13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numéricas → StandardScaler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5212080"/>
            <a:ext cx="10927080" cy="594360"/>
          </a:xfrm>
          <a:prstGeom prst="rect">
            <a:avLst/>
          </a:prstGeom>
          <a:solidFill>
            <a:srgbClr val="232C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 txBox="1"/>
          <p:nvPr/>
        </p:nvSpPr>
        <p:spPr>
          <a:xfrm>
            <a:off x="914400" y="5212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B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preprocesamiento se integra en un Pipeline  </a:t>
            </a:r>
            <a:r>
              <a:rPr lang="en-US" sz="13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 ajusta solo con train y evita el data leakage.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E6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RESULTADOS DEL MODELO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modelo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743200" cy="2148840"/>
          </a:xfrm>
          <a:prstGeom prst="rect">
            <a:avLst/>
          </a:prstGeom>
          <a:solidFill>
            <a:srgbClr val="1C222B"/>
          </a:solidFill>
          <a:ln w="12700">
            <a:solidFill>
              <a:srgbClr val="2C354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6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0,924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358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≈ 92,4% de la variabilidad del MRR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1600200"/>
            <a:ext cx="2743200" cy="2148840"/>
          </a:xfrm>
          <a:prstGeom prst="rect">
            <a:avLst/>
          </a:prstGeom>
          <a:solidFill>
            <a:srgbClr val="1C222B"/>
          </a:solidFill>
          <a:ln w="12700">
            <a:solidFill>
              <a:srgbClr val="2C354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3520440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46B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68,32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· USD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0358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Difiere ≈ 68 USD por cliente, en promedio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5623560" cy="868680"/>
          </a:xfrm>
          <a:prstGeom prst="rect">
            <a:avLst/>
          </a:prstGeom>
          <a:solidFill>
            <a:srgbClr val="232C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868680" y="393192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 ≈ 0,919   ·   R² test ≈ 0,924
</a:t>
            </a:r>
            <a:r>
              <a:rPr lang="en-US" sz="12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evidencia importante de sobreajuste. MAE ≈ 9,6% del MRR promedio.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93776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modelo se equivoca, en promedio, en aproximadamente 68 USD por cliente, por lo que puede utilizarse como apoyo para priorizar a quién atender primero.”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37960" y="1600200"/>
            <a:ext cx="5029200" cy="4297680"/>
          </a:xfrm>
          <a:prstGeom prst="rect">
            <a:avLst/>
          </a:prstGeom>
          <a:solidFill>
            <a:srgbClr val="1C222B"/>
          </a:solidFill>
          <a:ln w="12700">
            <a:solidFill>
              <a:srgbClr val="2C354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676656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MRR PREDICHO vs. REAL</a:t>
            </a:r>
            <a:endParaRPr lang="en-US" sz="1100" dirty="0"/>
          </a:p>
        </p:txBody>
      </p:sp>
      <p:pic>
        <p:nvPicPr>
          <p:cNvPr id="18" name="Image 0" descr="/tmp/e2img/predvs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148840"/>
            <a:ext cx="393192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E6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RECOMENDACIONES ESTRATÉGICAS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estratégicas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600199"/>
            <a:ext cx="5760720" cy="4539343"/>
          </a:xfrm>
          <a:prstGeom prst="rect">
            <a:avLst/>
          </a:prstGeom>
          <a:solidFill>
            <a:srgbClr val="1C222B"/>
          </a:solidFill>
          <a:ln w="12700">
            <a:solidFill>
              <a:srgbClr val="2C354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914400" y="1755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ASOCIACIONES CON EL MRR PROYECTADO</a:t>
            </a:r>
            <a:endParaRPr lang="en-US" sz="1100" dirty="0"/>
          </a:p>
        </p:txBody>
      </p:sp>
      <p:pic>
        <p:nvPicPr>
          <p:cNvPr id="7" name="Image 0" descr="/tmp/e2img/efec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57400"/>
            <a:ext cx="5029200" cy="323305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528523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estimados manteniendo las demás variables constantes.
</a:t>
            </a: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Unidades: tamaño y contrato por nivel · pago (sí vs no) · NPS por punto · gasto por 1.000 USD · sesiones por sesión · tickets por ticket.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1755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6B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ACCIONES PARA CUSTOMER SUCCESS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21945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00921" y="2232279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Contratos.  </a:t>
            </a:r>
            <a:r>
              <a:rPr lang="en-US" sz="13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migración hacia contratos anuales o de 2 años.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96265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900921" y="289179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Pagos.  </a:t>
            </a:r>
            <a:r>
              <a:rPr lang="en-US" sz="13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atrasos y facilitar el pago automático.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373075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900921" y="366217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Soporte.  </a:t>
            </a:r>
            <a:r>
              <a:rPr lang="en-US" sz="13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las cuentas con alta cantidad de tickets.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449884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900921" y="4432554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Satisfacción.  </a:t>
            </a:r>
            <a:r>
              <a:rPr lang="en-US" sz="13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NPS y actuar ante puntajes bajos.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526694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B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900921" y="5198364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Predicción.  </a:t>
            </a:r>
            <a:r>
              <a:rPr lang="en-US" sz="13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MRR proyectado para priorizar clientes que requieren atención.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419</Words>
  <Application>Microsoft Office PowerPoint</Application>
  <PresentationFormat>Panorámica</PresentationFormat>
  <Paragraphs>58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 Ascencio Valenzuela</cp:lastModifiedBy>
  <cp:revision>2</cp:revision>
  <dcterms:created xsi:type="dcterms:W3CDTF">2026-10-01T21:39:06Z</dcterms:created>
  <dcterms:modified xsi:type="dcterms:W3CDTF">2026-10-01T22:25:30Z</dcterms:modified>
</cp:coreProperties>
</file>